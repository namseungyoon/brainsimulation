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11338560" cy="6400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3000" b="1">
                <a:solidFill>
                  <a:srgbClr val="1E2761"/>
                </a:solidFill>
                <a:latin typeface="Malgun Gothic"/>
                <a:ea typeface="Malgun Gothic"/>
                <a:cs typeface="Malgun Gothic"/>
              </a:rPr>
              <a:t>CA1 시냅스 모델 — 최종 공식 &amp; 8개 파라미터를 찾는 6단계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960120"/>
            <a:ext cx="11338560" cy="64008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/>
            <a:r>
              <a:rPr sz="2300" b="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I(t) = </a:t>
            </a:r>
            <a:r>
              <a:rPr sz="2500" b="1">
                <a:solidFill>
                  <a:srgbClr val="6A1B9A"/>
                </a:solidFill>
                <a:latin typeface="Malgun Gothic"/>
                <a:ea typeface="Malgun Gothic"/>
                <a:cs typeface="Malgun Gothic"/>
              </a:rPr>
              <a:t>ĝ</a:t>
            </a:r>
            <a:r>
              <a:rPr sz="2300" b="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 · biexp(t; </a:t>
            </a:r>
            <a:r>
              <a:rPr sz="25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τ_rise, τ_decay</a:t>
            </a:r>
            <a:r>
              <a:rPr sz="2300" b="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) · TM(</a:t>
            </a:r>
            <a:r>
              <a:rPr sz="25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U_SE, D, F</a:t>
            </a:r>
            <a:r>
              <a:rPr sz="2300" b="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2500" b="1">
                <a:solidFill>
                  <a:srgbClr val="E07B00"/>
                </a:solidFill>
                <a:latin typeface="Malgun Gothic"/>
                <a:ea typeface="Malgun Gothic"/>
                <a:cs typeface="Malgun Gothic"/>
              </a:rPr>
              <a:t>N_RRP</a:t>
            </a:r>
            <a:r>
              <a:rPr sz="2300" b="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) · (Vm − </a:t>
            </a:r>
            <a:r>
              <a:rPr sz="25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E_rev</a:t>
            </a:r>
            <a:r>
              <a:rPr sz="2300" b="0">
                <a:solidFill>
                  <a:srgbClr val="212121"/>
                </a:solidFill>
                <a:latin typeface="Malgun Gothic"/>
                <a:ea typeface="Malgun Gothic"/>
                <a:cs typeface="Malgun Gothic"/>
              </a:rPr>
              <a:t>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572768"/>
            <a:ext cx="11338560" cy="320040"/>
          </a:xfrm>
          <a:prstGeom prst="rect">
            <a:avLst/>
          </a:prstGeom>
          <a:noFill/>
        </p:spPr>
        <p:txBody>
          <a:bodyPr wrap="square" anchor="ctr" lIns="27432" rIns="27432" tIns="18288" bIns="18288">
            <a:spAutoFit/>
          </a:bodyPr>
          <a:lstStyle/>
          <a:p>
            <a:pPr algn="ctr"/>
            <a:r>
              <a:rPr sz="1200" b="0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파라미터 색 = 찾는 단계:  </a:t>
            </a:r>
            <a:r>
              <a:rPr sz="12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biexp(단계3)</a:t>
            </a:r>
            <a:r>
              <a:rPr sz="1200" b="0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2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TM(단계4)</a:t>
            </a:r>
            <a:r>
              <a:rPr sz="1200" b="0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200" b="1">
                <a:solidFill>
                  <a:srgbClr val="E07B00"/>
                </a:solidFill>
                <a:latin typeface="Malgun Gothic"/>
                <a:ea typeface="Malgun Gothic"/>
                <a:cs typeface="Malgun Gothic"/>
              </a:rPr>
              <a:t>확률방출(단계5)</a:t>
            </a:r>
            <a:r>
              <a:rPr sz="1200" b="0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200" b="1">
                <a:solidFill>
                  <a:srgbClr val="6A1B9A"/>
                </a:solidFill>
                <a:latin typeface="Malgun Gothic"/>
                <a:ea typeface="Malgun Gothic"/>
                <a:cs typeface="Malgun Gothic"/>
              </a:rPr>
              <a:t>ĝ 보정(단계6)</a:t>
            </a:r>
          </a:p>
        </p:txBody>
      </p:sp>
      <p:sp>
        <p:nvSpPr>
          <p:cNvPr id="5" name="Oval 4"/>
          <p:cNvSpPr/>
          <p:nvPr/>
        </p:nvSpPr>
        <p:spPr>
          <a:xfrm>
            <a:off x="365760" y="2057400"/>
            <a:ext cx="384048" cy="384048"/>
          </a:xfrm>
          <a:prstGeom prst="ellipse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20824"/>
            <a:ext cx="3210458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1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단계1 · 해부  축삭-수상돌기 분포
</a:t>
            </a:r>
            <a:r>
              <a:rPr sz="1100" b="0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해부 검증 (파라미터 아님)</a:t>
            </a:r>
          </a:p>
        </p:txBody>
      </p:sp>
      <p:pic>
        <p:nvPicPr>
          <p:cNvPr id="7" name="Picture 6" descr="1_innerv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604252"/>
            <a:ext cx="3667658" cy="1640351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4262018" y="2057400"/>
            <a:ext cx="384048" cy="384048"/>
          </a:xfrm>
          <a:prstGeom prst="ellipse">
            <a:avLst/>
          </a:prstGeom>
          <a:solidFill>
            <a:srgbClr val="7878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19218" y="2020824"/>
            <a:ext cx="3210458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1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단계2 · 해부  연결당 시냅스 수
</a:t>
            </a:r>
            <a:r>
              <a:rPr sz="1100" b="0">
                <a:solidFill>
                  <a:srgbClr val="787878"/>
                </a:solidFill>
                <a:latin typeface="Malgun Gothic"/>
                <a:ea typeface="Malgun Gothic"/>
                <a:cs typeface="Malgun Gothic"/>
              </a:rPr>
              <a:t>해부 검증 (파라미터 아님)</a:t>
            </a:r>
          </a:p>
        </p:txBody>
      </p:sp>
      <p:pic>
        <p:nvPicPr>
          <p:cNvPr id="10" name="Picture 9" descr="2_num_synap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7166" y="2587752"/>
            <a:ext cx="2677363" cy="167335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8158276" y="2057400"/>
            <a:ext cx="384048" cy="384048"/>
          </a:xfrm>
          <a:prstGeom prst="ellipse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5476" y="2020824"/>
            <a:ext cx="3210458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단계3 · §2.3  biexp 전도도·전류
</a:t>
            </a:r>
            <a:r>
              <a:rPr sz="1100" b="1">
                <a:solidFill>
                  <a:srgbClr val="1565C0"/>
                </a:solidFill>
                <a:latin typeface="Malgun Gothic"/>
                <a:ea typeface="Malgun Gothic"/>
                <a:cs typeface="Malgun Gothic"/>
              </a:rPr>
              <a:t>찾는 파라미터: E_rev, τ_rise, τ_decay</a:t>
            </a:r>
          </a:p>
        </p:txBody>
      </p:sp>
      <p:pic>
        <p:nvPicPr>
          <p:cNvPr id="13" name="Picture 12" descr="s1_biexp_conducta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8276" y="2775534"/>
            <a:ext cx="3667658" cy="1297786"/>
          </a:xfrm>
          <a:prstGeom prst="rect">
            <a:avLst/>
          </a:prstGeom>
        </p:spPr>
      </p:pic>
      <p:sp>
        <p:nvSpPr>
          <p:cNvPr id="14" name="Oval 13"/>
          <p:cNvSpPr/>
          <p:nvPr/>
        </p:nvSpPr>
        <p:spPr>
          <a:xfrm>
            <a:off x="365760" y="4462272"/>
            <a:ext cx="384048" cy="384048"/>
          </a:xfrm>
          <a:prstGeom prst="ellipse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425696"/>
            <a:ext cx="3210458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단계4 · §2.4  TM 단기가소성
</a:t>
            </a:r>
            <a:r>
              <a:rPr sz="1100" b="1">
                <a:solidFill>
                  <a:srgbClr val="2E7D32"/>
                </a:solidFill>
                <a:latin typeface="Malgun Gothic"/>
                <a:ea typeface="Malgun Gothic"/>
                <a:cs typeface="Malgun Gothic"/>
              </a:rPr>
              <a:t>찾는 파라미터: U_SE, D, F</a:t>
            </a:r>
          </a:p>
        </p:txBody>
      </p:sp>
      <p:pic>
        <p:nvPicPr>
          <p:cNvPr id="16" name="Picture 15" descr="s2_tm_st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272" y="4992624"/>
            <a:ext cx="2182633" cy="1673352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4262018" y="4462272"/>
            <a:ext cx="384048" cy="384048"/>
          </a:xfrm>
          <a:prstGeom prst="ellipse">
            <a:avLst/>
          </a:prstGeom>
          <a:solidFill>
            <a:srgbClr val="E0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19218" y="4425696"/>
            <a:ext cx="3210458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1">
                <a:solidFill>
                  <a:srgbClr val="E07B00"/>
                </a:solidFill>
                <a:latin typeface="Malgun Gothic"/>
                <a:ea typeface="Malgun Gothic"/>
                <a:cs typeface="Malgun Gothic"/>
              </a:rPr>
              <a:t>단계5 · §2.5  확률 다소포 방출
</a:t>
            </a:r>
            <a:r>
              <a:rPr sz="1100" b="1">
                <a:solidFill>
                  <a:srgbClr val="E07B00"/>
                </a:solidFill>
                <a:latin typeface="Malgun Gothic"/>
                <a:ea typeface="Malgun Gothic"/>
                <a:cs typeface="Malgun Gothic"/>
              </a:rPr>
              <a:t>찾는 파라미터: N_RRP</a:t>
            </a:r>
          </a:p>
        </p:txBody>
      </p:sp>
      <p:pic>
        <p:nvPicPr>
          <p:cNvPr id="19" name="Picture 18" descr="s3_stochastic_mv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2018" y="5152193"/>
            <a:ext cx="3667658" cy="1354212"/>
          </a:xfrm>
          <a:prstGeom prst="rect">
            <a:avLst/>
          </a:prstGeom>
        </p:spPr>
      </p:pic>
      <p:sp>
        <p:nvSpPr>
          <p:cNvPr id="20" name="Oval 19"/>
          <p:cNvSpPr/>
          <p:nvPr/>
        </p:nvSpPr>
        <p:spPr>
          <a:xfrm>
            <a:off x="8158276" y="4462272"/>
            <a:ext cx="384048" cy="384048"/>
          </a:xfrm>
          <a:prstGeom prst="ellipse">
            <a:avLst/>
          </a:prstGeom>
          <a:solidFill>
            <a:srgbClr val="6A1B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5476" y="4425696"/>
            <a:ext cx="3210458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50" b="1">
                <a:solidFill>
                  <a:srgbClr val="6A1B9A"/>
                </a:solidFill>
                <a:latin typeface="Malgun Gothic"/>
                <a:ea typeface="Malgun Gothic"/>
                <a:cs typeface="Malgun Gothic"/>
              </a:rPr>
              <a:t>단계6 · §2.6  ĝ 보정
</a:t>
            </a:r>
            <a:r>
              <a:rPr sz="1100" b="1">
                <a:solidFill>
                  <a:srgbClr val="6A1B9A"/>
                </a:solidFill>
                <a:latin typeface="Malgun Gothic"/>
                <a:ea typeface="Malgun Gothic"/>
                <a:cs typeface="Malgun Gothic"/>
              </a:rPr>
              <a:t>찾는 파라미터: ĝ</a:t>
            </a:r>
          </a:p>
        </p:txBody>
      </p:sp>
      <p:pic>
        <p:nvPicPr>
          <p:cNvPr id="22" name="Picture 21" descr="s1_calibrate_gha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58276" y="5152193"/>
            <a:ext cx="3667658" cy="135421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